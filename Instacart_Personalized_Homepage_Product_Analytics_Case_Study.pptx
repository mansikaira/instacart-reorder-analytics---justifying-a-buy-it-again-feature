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731520"/>
            <a:ext cx="1005840" cy="1005840"/>
          </a:xfrm>
          <a:prstGeom prst="ellipse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1463040"/>
            <a:ext cx="594360" cy="594360"/>
          </a:xfrm>
          <a:prstGeom prst="ellipse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1828800"/>
            <a:ext cx="411480" cy="411480"/>
          </a:xfrm>
          <a:prstGeom prst="ellipse">
            <a:avLst/>
          </a:prstGeom>
          <a:solidFill>
            <a:srgbClr val="F5C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8869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ptos Display"/>
              </a:rPr>
              <a:t>Designing a Personalized
Instacart Homepage</a:t>
            </a:r>
          </a:p>
          <a:p>
            <a:pPr>
              <a:spcBef>
                <a:spcPts val="1600"/>
              </a:spcBef>
            </a:pPr>
            <a:r>
              <a:rPr sz="1600">
                <a:solidFill>
                  <a:srgbClr val="D2DAE1"/>
                </a:solidFill>
              </a:rPr>
              <a:t>A product analytics case study using customer purchase behavior to balance repeat shopping and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394960"/>
            <a:ext cx="540564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 dirty="0">
                <a:solidFill>
                  <a:srgbClr val="69737D"/>
                </a:solidFill>
              </a:rPr>
              <a:t>• Historical market-basket data • SQL + Python analysis • Product strategy + </a:t>
            </a:r>
            <a:r>
              <a:rPr lang="en-IN" sz="1050" i="1" dirty="0">
                <a:solidFill>
                  <a:srgbClr val="69737D"/>
                </a:solidFill>
              </a:rPr>
              <a:t>M</a:t>
            </a:r>
            <a:r>
              <a:rPr sz="1050" i="1" dirty="0" err="1">
                <a:solidFill>
                  <a:srgbClr val="69737D"/>
                </a:solidFill>
              </a:rPr>
              <a:t>easurement</a:t>
            </a:r>
            <a:r>
              <a:rPr sz="1050" i="1" dirty="0">
                <a:solidFill>
                  <a:srgbClr val="69737D"/>
                </a:solidFill>
              </a:rPr>
              <a:t>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8CDD2"/>
                </a:solidFill>
              </a:rPr>
              <a:t>Instacart Personalized Homepage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From behavioral evidence to a personalized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1600200"/>
            <a:ext cx="2487167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204825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dirty="0">
                <a:solidFill>
                  <a:srgbClr val="F27935"/>
                </a:solidFill>
              </a:rPr>
              <a:t>58.97%</a:t>
            </a:r>
          </a:p>
          <a:p>
            <a:pPr algn="ctr"/>
            <a:r>
              <a:rPr sz="1050" dirty="0">
                <a:solidFill>
                  <a:srgbClr val="69737D"/>
                </a:solidFill>
              </a:rPr>
              <a:t>of product purchases are reorders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0020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7872" y="1737360"/>
            <a:ext cx="204825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4A8466"/>
                </a:solidFill>
              </a:rPr>
              <a:t>69.02%</a:t>
            </a:r>
          </a:p>
          <a:p>
            <a:pPr algn="ctr"/>
            <a:r>
              <a:rPr sz="1050">
                <a:solidFill>
                  <a:srgbClr val="69737D"/>
                </a:solidFill>
              </a:rPr>
              <a:t>reorder rate among high-frequency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00200"/>
            <a:ext cx="2578608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1" y="1737360"/>
            <a:ext cx="204825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dirty="0">
                <a:solidFill>
                  <a:srgbClr val="F27935"/>
                </a:solidFill>
              </a:rPr>
              <a:t>47.51%</a:t>
            </a:r>
          </a:p>
          <a:p>
            <a:pPr algn="ctr"/>
            <a:r>
              <a:rPr sz="1050" dirty="0">
                <a:solidFill>
                  <a:srgbClr val="69737D"/>
                </a:solidFill>
              </a:rPr>
              <a:t>reorder rate among medium-frequency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60020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51392" y="1737360"/>
            <a:ext cx="204825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4A8466"/>
                </a:solidFill>
              </a:rPr>
              <a:t>7 days</a:t>
            </a:r>
          </a:p>
          <a:p>
            <a:pPr algn="ctr"/>
            <a:r>
              <a:rPr sz="1050">
                <a:solidFill>
                  <a:srgbClr val="69737D"/>
                </a:solidFill>
              </a:rPr>
              <a:t>strongest observed reorder cadence peak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73152" cy="182880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4766048" cy="13901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Core finding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Repeat purchasing is substantial, but customers do not behave uniformly.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Purchase history becomes more reliable as customers mature, making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one-size-fits-all personalization inefficient.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337560"/>
            <a:ext cx="73152" cy="182880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520440"/>
            <a:ext cx="5142755" cy="1656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Product recommendation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Create a behavior-based homepage with different prominence for Buy Again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and Discovery.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Prioritize friction reduction for established shoppers while preserving discovery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for users with limited history.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664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The Product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Why redesign the homepage?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347472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5088252" cy="24570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Observed problem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Customers repeatedly buy many of the same grocery products across shopping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sessions.</a:t>
            </a: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A generic homepage does not explicitly adapt to the strength of a customer's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purchase history.</a:t>
            </a: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The product opportunity is to reduce repeat-shopping effort without removing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opportunities for discovery.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752" y="155448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73152" cy="347472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158785" cy="2190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Project objective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Analyze reorder behavior, purchase cadence, category patterns and customer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maturity.</a:t>
            </a: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Translate findings into a personalized homepage strategy.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Define how feature success would be measured and propose an experiment for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607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9737D"/>
                </a:solidFill>
              </a:rPr>
              <a:t>Core question: How can customer purchase behavior be used to create a more personalized and efficient shopping experience?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6202D"/>
                </a:solidFill>
                <a:latin typeface="Aptos Display"/>
              </a:rPr>
              <a:t>Data &amp; 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The project moves from evidence → insight → product decision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57200" cy="457200"/>
          </a:xfrm>
          <a:prstGeom prst="ellipse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9903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Business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39903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232D3A"/>
                </a:solidFill>
              </a:rPr>
              <a:t>17 questions across reorder behavior, timing, basket composition and segmentation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1343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02D"/>
                </a:solidFill>
              </a:rPr>
              <a:t>SQL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31343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232D3A"/>
                </a:solidFill>
              </a:rPr>
              <a:t>Joined order, product, aisle and department data to quantify behavioral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31927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2783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02D"/>
                </a:solidFill>
              </a:rPr>
              <a:t>Python + 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22783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232D3A"/>
                </a:solidFill>
              </a:rPr>
              <a:t>Visualized distributions, category patterns, cadence and customer segments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4223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02D"/>
                </a:solidFill>
              </a:rPr>
              <a:t>Product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4223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232D3A"/>
                </a:solidFill>
              </a:rPr>
              <a:t>Mapped findings to Buy Again, Discovery and future recommendation opportunities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14807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05663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02D"/>
                </a:solidFill>
              </a:rPr>
              <a:t>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505663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232D3A"/>
                </a:solidFill>
              </a:rPr>
              <a:t>Defined feature-level success metrics and an experiment-ready measurement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64" y="19664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Analytical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The questions were selected to answer product decisions—not to produce isolated charts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14300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20550" cy="856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Repeat behavior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How large is repeat purchasing, and which products/categories are strongest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candidates?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59" y="1417320"/>
            <a:ext cx="73152" cy="114300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600200"/>
            <a:ext cx="4875053" cy="856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Cadence &amp; timing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When do customers return, and when are they most likely to interact with the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 homepage?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73152" cy="114300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10896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02D"/>
                </a:solidFill>
              </a:rPr>
              <a:t>Customer maturity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t>How does behavior change as order history grows?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92608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2926080"/>
            <a:ext cx="73152" cy="114300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310896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02D"/>
                </a:solidFill>
              </a:rPr>
              <a:t>Basket behavior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t>How do exploration and repeat purchasing coexist?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43484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20440" y="4434840"/>
            <a:ext cx="73152" cy="114300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9039" y="461772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02D"/>
                </a:solidFill>
              </a:rPr>
              <a:t>Personalization fit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t>Which customer segments should receive which experience?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Insight 1 — Repeat Purchasing Is a Major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664983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37D"/>
                </a:solidFill>
                <a:latin typeface="Aptos"/>
              </a:rPr>
              <a:t>The first question: </a:t>
            </a:r>
            <a:r>
              <a:rPr lang="en-IN" sz="1250" dirty="0">
                <a:solidFill>
                  <a:srgbClr val="69737D"/>
                </a:solidFill>
                <a:latin typeface="Aptos"/>
              </a:rPr>
              <a:t>I</a:t>
            </a:r>
            <a:r>
              <a:rPr sz="1250" dirty="0">
                <a:solidFill>
                  <a:srgbClr val="69737D"/>
                </a:solidFill>
                <a:latin typeface="Aptos"/>
              </a:rPr>
              <a:t>s there enough repeat behavior to justify a dedicated reordering experience?</a:t>
            </a:r>
          </a:p>
        </p:txBody>
      </p:sp>
      <p:pic>
        <p:nvPicPr>
          <p:cNvPr id="5" name="Picture 4" descr="reorder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48640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554480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73152" cy="347472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995278" cy="2190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What the data says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58.97% of product purchases are reorders at the transaction level.</a:t>
            </a: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When every customer is weighted equally, the average repeat share is still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43.22%, showing the pattern is broader than only heavy users.</a:t>
            </a: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High-frequency customers contribute disproportionately to transaction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volume,</a:t>
            </a:r>
            <a:r>
              <a:rPr lang="en-IN" dirty="0"/>
              <a:t> </a:t>
            </a:r>
            <a:r>
              <a:rPr dirty="0"/>
              <a:t>so both transaction-level and customer-level views were considered.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07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9737D"/>
                </a:solidFill>
              </a:rPr>
              <a:t>Product implication: Build a visible Buy Again experience, but personalize its prominence rather than treating every customer identically.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Insight 2 — Repeat Behavior Is Category-Specific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Not every product deserves equal homepage priority</a:t>
            </a:r>
          </a:p>
        </p:txBody>
      </p:sp>
      <p:pic>
        <p:nvPicPr>
          <p:cNvPr id="5" name="Picture 4" descr="department_re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66928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463040"/>
            <a:ext cx="50292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73152" cy="365760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645920"/>
            <a:ext cx="4849404" cy="2190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What the pattern means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Dairy &amp; Eggs, Beverages and Produce have the strongest department-level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reorder behavior.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At aisle level, Milk reaches 78.15% and Fresh Fruits 71.84% reorder rate.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High reorder rate alone is not enough: product volume should also be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considered to avoid over-prioritizing niche items with tiny samples.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0720"/>
            <a:ext cx="844333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 dirty="0">
                <a:solidFill>
                  <a:srgbClr val="69737D"/>
                </a:solidFill>
              </a:rPr>
              <a:t>Product implication: </a:t>
            </a:r>
            <a:r>
              <a:rPr lang="en-IN" sz="1050" i="1" dirty="0">
                <a:solidFill>
                  <a:srgbClr val="69737D"/>
                </a:solidFill>
              </a:rPr>
              <a:t>R</a:t>
            </a:r>
            <a:r>
              <a:rPr sz="1050" i="1" dirty="0" err="1">
                <a:solidFill>
                  <a:srgbClr val="69737D"/>
                </a:solidFill>
              </a:rPr>
              <a:t>ank</a:t>
            </a:r>
            <a:r>
              <a:rPr sz="1050" i="1" dirty="0">
                <a:solidFill>
                  <a:srgbClr val="69737D"/>
                </a:solidFill>
              </a:rPr>
              <a:t> Buy Again candidates using behavioral confidence signals such as prior purchases, reorder rate and sufficient historical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Insight 3 — Shopping Follows a Clear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37D"/>
                </a:solidFill>
                <a:latin typeface="Aptos"/>
              </a:rPr>
              <a:t>Cadence and timing can inform when personalized content is most useful</a:t>
            </a:r>
          </a:p>
        </p:txBody>
      </p:sp>
      <p:pic>
        <p:nvPicPr>
          <p:cNvPr id="5" name="Picture 4" descr="weekend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03520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54480"/>
            <a:ext cx="195681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27935"/>
                </a:solidFill>
              </a:rPr>
              <a:t>306,181</a:t>
            </a:r>
          </a:p>
          <a:p>
            <a:pPr algn="ctr"/>
            <a:r>
              <a:rPr sz="1050">
                <a:solidFill>
                  <a:srgbClr val="69737D"/>
                </a:solidFill>
              </a:rPr>
              <a:t>orders at the 7-day cadence peak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88552" y="1554480"/>
            <a:ext cx="195681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4A8466"/>
                </a:solidFill>
              </a:rPr>
              <a:t>10 AM</a:t>
            </a:r>
          </a:p>
          <a:p>
            <a:pPr algn="ctr"/>
            <a:r>
              <a:rPr sz="1050">
                <a:solidFill>
                  <a:srgbClr val="69737D"/>
                </a:solidFill>
              </a:rPr>
              <a:t>highest observed hour: 271,885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26080"/>
            <a:ext cx="48920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73152" cy="192024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108960"/>
            <a:ext cx="4589718" cy="13901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Interpretation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Order volume peaks on Saturday and Sunday, while daytime activity is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concentrated between 10 AM and 4 PM.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The strong 7-day peak suggests a meaningful weekly shopping rhythm.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8526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 dirty="0">
                <a:solidFill>
                  <a:srgbClr val="69737D"/>
                </a:solidFill>
              </a:rPr>
              <a:t>Product implication: </a:t>
            </a:r>
            <a:r>
              <a:rPr lang="en-IN" sz="1050" i="1" dirty="0">
                <a:solidFill>
                  <a:srgbClr val="69737D"/>
                </a:solidFill>
              </a:rPr>
              <a:t>C</a:t>
            </a:r>
            <a:r>
              <a:rPr sz="1050" i="1" dirty="0" err="1">
                <a:solidFill>
                  <a:srgbClr val="69737D"/>
                </a:solidFill>
              </a:rPr>
              <a:t>adence</a:t>
            </a:r>
            <a:r>
              <a:rPr sz="1050" i="1" dirty="0">
                <a:solidFill>
                  <a:srgbClr val="69737D"/>
                </a:solidFill>
              </a:rPr>
              <a:t> is a useful personalization signal. A future “Running Low” experience should be treated as a hypothesis to validate—not as something the historical data proves directly.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Insight 4 — Customer Maturity Changes What the Homepage Should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Exploration dominates early; repeat behavior becomes more reliable as history grows</a:t>
            </a:r>
          </a:p>
        </p:txBody>
      </p:sp>
      <p:pic>
        <p:nvPicPr>
          <p:cNvPr id="5" name="Picture 4" descr="diversity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486400" cy="4069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463040"/>
            <a:ext cx="4983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73152" cy="361188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645920"/>
            <a:ext cx="4919937" cy="24570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Key observations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Customers expand across departments quickly early in their lifecycle, then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exploration plateaus around 14–15 departments.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Reorder behavior rises sharply during the first 5–6 orders, reaching 54.51%,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before growth slows.</a:t>
            </a: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This creates an evidence-backed reason to progressively increase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personalization instead of showing the same homepage from day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0720"/>
            <a:ext cx="807625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 dirty="0">
                <a:solidFill>
                  <a:srgbClr val="69737D"/>
                </a:solidFill>
              </a:rPr>
              <a:t>Product implication: </a:t>
            </a:r>
            <a:r>
              <a:rPr lang="en-IN" sz="1050" i="1" dirty="0">
                <a:solidFill>
                  <a:srgbClr val="69737D"/>
                </a:solidFill>
              </a:rPr>
              <a:t>Shift</a:t>
            </a:r>
            <a:r>
              <a:rPr sz="1050" i="1" dirty="0">
                <a:solidFill>
                  <a:srgbClr val="69737D"/>
                </a:solidFill>
              </a:rPr>
              <a:t> the homepage balance from Discovery → mixed experience → Buy Again as purchase history becomes more informative.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Insight 5 — Segmentation Is the Core Personalization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Purchase frequency is a practical proxy for how much behavioral signal the product has</a:t>
            </a:r>
          </a:p>
        </p:txBody>
      </p:sp>
      <p:pic>
        <p:nvPicPr>
          <p:cNvPr id="5" name="Picture 4" descr="segment_re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486400" cy="4069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417320"/>
            <a:ext cx="498348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73152" cy="37947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600200"/>
            <a:ext cx="4642618" cy="24570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Segment strategy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Low frequency (1–5 orders): 26.01% reorder rate → discovery-heavy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experience.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Medium frequency: 47.51% reorder rate and 98,658 users → strongest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growth opportunity for a balanced experience.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High frequency (21+ orders): 69.02% reorder rate and 47,810 users → </a:t>
            </a:r>
            <a:endParaRPr lang="en-IN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strongest candidates for Buy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The Product Recommendation — A Behavior-Based Homepage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Same platform. Different homepage emphasis based on customer maturity.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29000" cy="5943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Low-frequency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 dirty="0">
                <a:solidFill>
                  <a:srgbClr val="16202D"/>
                </a:solidFill>
              </a:rPr>
              <a:t>Discovery-first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87" y="3086990"/>
            <a:ext cx="293381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150" dirty="0">
                <a:solidFill>
                  <a:srgbClr val="232D3A"/>
                </a:solidFill>
              </a:rPr>
              <a:t> </a:t>
            </a:r>
            <a:r>
              <a:rPr lang="en-US" sz="1150" dirty="0">
                <a:solidFill>
                  <a:srgbClr val="232D3A"/>
                </a:solidFill>
              </a:rPr>
              <a:t>More category and product exploration; </a:t>
            </a:r>
          </a:p>
          <a:p>
            <a:pPr algn="ctr"/>
            <a:r>
              <a:rPr lang="en-US" sz="1150" dirty="0">
                <a:solidFill>
                  <a:srgbClr val="232D3A"/>
                </a:solidFill>
              </a:rPr>
              <a:t>limited history means weaker repeat signals.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6634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37D"/>
                </a:solidFill>
              </a:rPr>
              <a:t>Discovery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4681727"/>
            <a:ext cx="1131569" cy="1371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93775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69737D"/>
                </a:solidFill>
              </a:rPr>
              <a:t>Buy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4956047"/>
            <a:ext cx="754380" cy="1371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7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37D"/>
                </a:solidFill>
              </a:rPr>
              <a:t>Recommendations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5230367"/>
            <a:ext cx="377190" cy="1371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80560" y="146304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1463040"/>
            <a:ext cx="3429000" cy="59436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Medium-frequency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33172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 dirty="0">
                <a:solidFill>
                  <a:srgbClr val="16202D"/>
                </a:solidFill>
              </a:rPr>
              <a:t>Balanced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2102" y="3154680"/>
            <a:ext cx="2492281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dirty="0">
                <a:solidFill>
                  <a:srgbClr val="232D3A"/>
                </a:solidFill>
              </a:rPr>
              <a:t>Buy Again alongside relevant Discovery; the exact allocation can be optimized through experimentation.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6634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37D"/>
                </a:solidFill>
              </a:rPr>
              <a:t>Discovery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4681727"/>
            <a:ext cx="754380" cy="13716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73168" y="493775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37D"/>
                </a:solidFill>
              </a:rPr>
              <a:t>Buy Again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4956047"/>
            <a:ext cx="754380" cy="13716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521207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37D"/>
                </a:solidFill>
              </a:rPr>
              <a:t>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5230367"/>
            <a:ext cx="452627" cy="13716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0" y="146304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1040" y="1463040"/>
            <a:ext cx="3429000" cy="5943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160020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High-frequency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33172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16202D"/>
                </a:solidFill>
              </a:rPr>
              <a:t>Buy Again-first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3496" y="3154680"/>
            <a:ext cx="2311367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dirty="0">
                <a:solidFill>
                  <a:srgbClr val="232D3A"/>
                </a:solidFill>
              </a:rPr>
              <a:t>Prominent repeat shortcuts plus personalized recommendations based on established history.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46634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37D"/>
                </a:solidFill>
              </a:rPr>
              <a:t>Discovery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8360" y="4681727"/>
            <a:ext cx="301752" cy="1371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13648" y="493775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37D"/>
                </a:solidFill>
              </a:rPr>
              <a:t>Buy Again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4956047"/>
            <a:ext cx="1207008" cy="1371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13648" y="521207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37D"/>
                </a:solidFill>
              </a:rPr>
              <a:t>Recommendations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8360" y="5230367"/>
            <a:ext cx="829818" cy="1371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Feature Design — What Each Module Is Expected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Buy Again and Discovery share a measurement structure but solve different user needs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416052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60864" cy="2190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Buy Again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Surfaces products the customer has purchased before.</a:t>
            </a: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Prioritizes reliable staples and frequently repeated products.</a:t>
            </a: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IN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Primary value: reduce search and selection effort for repeat shopping.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Best fit: established customers with enough behavioral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73152" cy="416052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891083" cy="27238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Discovery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Surfaces relevant new products and categories.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Uses limited purchase history as a starting point rather than requiring deep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behavioral history.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Primary value: help customers explore and convert relevant new products.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Best fit: newer and lower-frequency customers, with a balanced role for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medium-frequency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Measurement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Metrics are defined around the user journey, not chosen because they are generic product metrics</a:t>
            </a:r>
          </a:p>
        </p:txBody>
      </p:sp>
      <p:pic>
        <p:nvPicPr>
          <p:cNvPr id="5" name="Picture 4" descr="metric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25880"/>
            <a:ext cx="1005840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7548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73152" cy="10515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937760"/>
            <a:ext cx="5091458" cy="856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Buy Again focus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Successful repurchase of previously purchased products, with shopping efficiency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as an additional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4754880"/>
            <a:ext cx="73152" cy="105156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4937760"/>
            <a:ext cx="5030544" cy="856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Discovery focus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Discovery and purchase of relevant new products; conversion is more important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than long-term feature retention.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Feature-Level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The same lifecycle stages apply to both modules, but the desired behavior differs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011680" cy="548640"/>
          </a:xfrm>
          <a:prstGeom prst="rect">
            <a:avLst/>
          </a:prstGeom>
          <a:solidFill>
            <a:srgbClr val="16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865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Metric 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4297680" cy="548640"/>
          </a:xfrm>
          <a:prstGeom prst="rect">
            <a:avLst/>
          </a:prstGeom>
          <a:solidFill>
            <a:srgbClr val="16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6352" y="1389888"/>
            <a:ext cx="4151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Buy Again — KPI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280160"/>
            <a:ext cx="4297680" cy="548640"/>
          </a:xfrm>
          <a:prstGeom prst="rect">
            <a:avLst/>
          </a:prstGeom>
          <a:solidFill>
            <a:srgbClr val="16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88352" y="1389888"/>
            <a:ext cx="4151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Discovery — KPI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2011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883664"/>
            <a:ext cx="1865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202D"/>
                </a:solidFill>
              </a:rPr>
              <a:t>Focus / North Star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828800"/>
            <a:ext cx="4297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16352" y="1883664"/>
            <a:ext cx="4151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dirty="0">
                <a:solidFill>
                  <a:srgbClr val="232D3A"/>
                </a:solidFill>
              </a:rPr>
              <a:t>Are users successfully using Buy Again to repurchase products they have previously purchased?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828800"/>
            <a:ext cx="4297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1883664"/>
            <a:ext cx="4151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Are users discovering and purchasing relevant new products through Discovery?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41448"/>
            <a:ext cx="2011680" cy="612648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496312"/>
            <a:ext cx="1865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202D"/>
                </a:solidFill>
              </a:rPr>
              <a:t>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441448"/>
            <a:ext cx="4297680" cy="612648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16352" y="2496312"/>
            <a:ext cx="4151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How many eligible homepage users see and interact with the module?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441448"/>
            <a:ext cx="4297680" cy="612648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88352" y="2496312"/>
            <a:ext cx="4151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dirty="0">
                <a:solidFill>
                  <a:srgbClr val="232D3A"/>
                </a:solidFill>
              </a:rPr>
              <a:t>How many eligible homepage users see and enter the Discovery section?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54096"/>
            <a:ext cx="2011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3108960"/>
            <a:ext cx="1865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202D"/>
                </a:solidFill>
              </a:rPr>
              <a:t>Activation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054096"/>
            <a:ext cx="4297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16352" y="3108960"/>
            <a:ext cx="4151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How many users add a previously purchased product to cart after interacting?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054096"/>
            <a:ext cx="4297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88352" y="3108960"/>
            <a:ext cx="415137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How many users add a newly discovered product to cart after interacting?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2011680" cy="694944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3721607"/>
            <a:ext cx="1865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202D"/>
                </a:solidFill>
              </a:rPr>
              <a:t>Engagement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666744"/>
            <a:ext cx="4297680" cy="694944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16352" y="3721607"/>
            <a:ext cx="4151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How frequently do activated users return to and interact with Buy Again?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666744"/>
            <a:ext cx="4297680" cy="694944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88352" y="3721607"/>
            <a:ext cx="4151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How frequently do users explore and interact with Discovery recommendations?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61688"/>
            <a:ext cx="2011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4416551"/>
            <a:ext cx="1865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202D"/>
                </a:solidFill>
              </a:rPr>
              <a:t>Conversion / Outcome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361688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16352" y="4416551"/>
            <a:ext cx="4151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dirty="0">
                <a:solidFill>
                  <a:srgbClr val="232D3A"/>
                </a:solidFill>
              </a:rPr>
              <a:t>How many users complete a purchase containing products selected through Buy Again?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361688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88352" y="4416551"/>
            <a:ext cx="4151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How many users complete a purchase containing a product discovered through the feature?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056631"/>
            <a:ext cx="2011680" cy="694944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5111495"/>
            <a:ext cx="1865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202D"/>
                </a:solidFill>
              </a:rPr>
              <a:t>Retention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5056631"/>
            <a:ext cx="4297680" cy="694944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16352" y="5111495"/>
            <a:ext cx="4151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After initial success, how many users return to use Buy Again within a defined period?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5056631"/>
            <a:ext cx="4297680" cy="694944"/>
          </a:xfrm>
          <a:prstGeom prst="rect">
            <a:avLst/>
          </a:prstGeom>
          <a:solidFill>
            <a:srgbClr val="F3F4F5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88352" y="5111495"/>
            <a:ext cx="415137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32D3A"/>
                </a:solidFill>
              </a:rPr>
              <a:t>Optional supporting metric: do users return to Discovery in future sessions?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02D"/>
                </a:solidFill>
                <a:latin typeface="Aptos Display"/>
              </a:rPr>
              <a:t>Validation Plan &amp; Portfolio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The analysis identifies an opportunity; experimentation is needed to establish causal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F27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5004896" cy="29905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Proposed A/B test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Control: existing/generic homepage experience.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Treatment: behavior-based homepage with segment-specific prominence for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Buy Again and Discovery.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Primary evaluation: feature conversion/outcome metrics, supported by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engagement and shopping-efficiency signals.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  <a:defRPr sz="1150">
                <a:solidFill>
                  <a:srgbClr val="232D3A"/>
                </a:solidFill>
              </a:defRPr>
            </a:pPr>
            <a:r>
              <a:rPr dirty="0"/>
              <a:t>Guardrails: overall purchase behavior and discovery should not deteriorate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lang="en-IN" dirty="0"/>
              <a:t>w</a:t>
            </a:r>
            <a:r>
              <a:rPr dirty="0" err="1"/>
              <a:t>hile</a:t>
            </a:r>
            <a:r>
              <a:rPr lang="en-US" dirty="0"/>
              <a:t> </a:t>
            </a:r>
            <a:r>
              <a:rPr lang="en-IN" dirty="0"/>
              <a:t>opt</a:t>
            </a:r>
            <a:r>
              <a:rPr dirty="0" err="1"/>
              <a:t>imizing</a:t>
            </a:r>
            <a:r>
              <a:rPr dirty="0"/>
              <a:t> repeat purchases.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B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3566160"/>
          </a:xfrm>
          <a:prstGeom prst="rect">
            <a:avLst/>
          </a:prstGeom>
          <a:solidFill>
            <a:srgbClr val="4A8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998484" cy="32573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6202D"/>
                </a:solidFill>
              </a:rPr>
              <a:t>Limitations &amp; next steps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Historical market-basket data does not contain homepage impressions, clicks or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experiment exposure.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The proposed product metrics are therefore a future measurement plan rather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than values calculable from this dataset.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Running Low and frequently-bought-together recommendations require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additional modeling/validation before implementation.</a:t>
            </a:r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Next: finalize formulas, event instrumentation, experiment hypothesis and </a:t>
            </a:r>
            <a:endParaRPr lang="en-US" dirty="0"/>
          </a:p>
          <a:p>
            <a:pPr>
              <a:spcBef>
                <a:spcPts val="700"/>
              </a:spcBef>
              <a:defRPr sz="1150">
                <a:solidFill>
                  <a:srgbClr val="232D3A"/>
                </a:solidFill>
              </a:defRPr>
            </a:pPr>
            <a:r>
              <a:rPr dirty="0"/>
              <a:t>success criteria.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607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9737D"/>
                </a:solidFill>
              </a:rPr>
              <a:t>Portfolio narrative: Business problem → behavioral evidence → segmentation → product strategy → success metrics → experiment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Instacart Personalized Homepage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1570</Words>
  <Application>Microsoft Office PowerPoint</Application>
  <PresentationFormat>Widescreen</PresentationFormat>
  <Paragraphs>245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Mansi kaira</cp:lastModifiedBy>
  <cp:revision>3</cp:revision>
  <dcterms:created xsi:type="dcterms:W3CDTF">2013-01-27T09:14:16Z</dcterms:created>
  <dcterms:modified xsi:type="dcterms:W3CDTF">2026-08-29T20:43:03Z</dcterms:modified>
  <cp:category/>
</cp:coreProperties>
</file>